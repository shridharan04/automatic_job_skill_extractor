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Recruiters spend too much time reading complex technical resumes. We needed a system that could automate this without losing accuracy.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had to teach the machine that "Python," "python," and "Python!!!" are all the exact same skill.</a:t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we are looking for "Java", a basic search will falsely trigger on "JavaScript". Word-boundary regex solved this completely.</a:t>
            </a:r>
            <a:endParaRPr/>
          </a:p>
        </p:txBody>
      </p:sp>
      <p:sp>
        <p:nvSpPr>
          <p:cNvPr id="124" name="Google Shape;1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_BASE">
  <p:cSld name="DARK_BASE">
    <p:bg>
      <p:bgPr>
        <a:solidFill>
          <a:srgbClr val="0F172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8412480" y="-2011680"/>
            <a:ext cx="5486400" cy="5486400"/>
          </a:xfrm>
          <a:prstGeom prst="ellipse">
            <a:avLst/>
          </a:prstGeom>
          <a:solidFill>
            <a:srgbClr val="132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-2103120" y="4389120"/>
            <a:ext cx="4572000" cy="4572000"/>
          </a:xfrm>
          <a:prstGeom prst="ellipse">
            <a:avLst/>
          </a:prstGeom>
          <a:solidFill>
            <a:srgbClr val="11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FINAL INTERNSHIP PRESENTATION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Automatic Job Skill Extractor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38BDF8"/>
                </a:solidFill>
              </a:rPr>
              <a:t> with </a:t>
            </a:r>
            <a:r>
              <a:rPr b="0" i="0" lang="en-US" sz="24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AI Talent Intelligence Platform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An NLP &amp; Machine Learning platform for automated job-skill extraction and candidate–resume matching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822960" y="53949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 Shridharan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Techno Signia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22960" y="6080760"/>
            <a:ext cx="868680" cy="365760"/>
          </a:xfrm>
          <a:prstGeom prst="roundRect">
            <a:avLst>
              <a:gd fmla="val 15000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822960" y="608076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856232" y="6080760"/>
            <a:ext cx="868680" cy="365760"/>
          </a:xfrm>
          <a:prstGeom prst="roundRect">
            <a:avLst>
              <a:gd fmla="val 15000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1856232" y="608076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889504" y="60807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2889504" y="60807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Scikit-learn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471416" y="6080760"/>
            <a:ext cx="868680" cy="365760"/>
          </a:xfrm>
          <a:prstGeom prst="roundRect">
            <a:avLst>
              <a:gd fmla="val 15000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4471416" y="608076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PyPDF2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504688" y="6080760"/>
            <a:ext cx="1143000" cy="365760"/>
          </a:xfrm>
          <a:prstGeom prst="roundRect">
            <a:avLst>
              <a:gd fmla="val 15000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5504688" y="608076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Bottleneck in Technical Recruiting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Recruiters spend too much time reading complex technical resumes — the goal was to automate this without losing accuracy.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48640" y="2286000"/>
            <a:ext cx="3383280" cy="3291840"/>
          </a:xfrm>
          <a:prstGeom prst="roundRect">
            <a:avLst>
              <a:gd fmla="val 2778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822960" y="25603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822960" y="32461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Slow &amp; Unscalable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822960" y="3749040"/>
            <a:ext cx="28346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Manual screening of technical resumes and JDs takes several minutes per candidate and cannot scale with hiring volume.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251960" y="2286000"/>
            <a:ext cx="3383280" cy="3291840"/>
          </a:xfrm>
          <a:prstGeom prst="roundRect">
            <a:avLst>
              <a:gd fmla="val 2778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4526280" y="25603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4526280" y="32461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Recruiter Fatigue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4526280" y="3749040"/>
            <a:ext cx="28346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Reading hundreds of similar JDs causes cognitive fatigue, increasing the risk of overlooking a qualified candidate.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7955280" y="2286000"/>
            <a:ext cx="3383280" cy="3291840"/>
          </a:xfrm>
          <a:prstGeom prst="roundRect">
            <a:avLst>
              <a:gd fmla="val 2778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8229600" y="25603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8229600" y="32461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ATS Limitations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8229600" y="3749040"/>
            <a:ext cx="28346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Applicant Tracking Systems struggle to reliably parse unstructured, free-form job description text.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BUSINESS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Delivering ROI Through Automation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548640" y="155448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Automated JD Parsing: instantly turns paragraphs into structured skill tables.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Real-Time Candidate Scoring: calculates a direct 0-100% match score.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Enterprise Integration: generates JSON APIs and CSVs for ATS routing (Workday, Greenhouse, FastAPI).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989320" y="2319190"/>
            <a:ext cx="5760720" cy="2951140"/>
          </a:xfrm>
          <a:prstGeom prst="roundRect">
            <a:avLst>
              <a:gd fmla="val 2479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22.png" id="65" name="Google Shape;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0" y="2456350"/>
            <a:ext cx="5486400" cy="267682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 txBox="1"/>
          <p:nvPr/>
        </p:nvSpPr>
        <p:spPr>
          <a:xfrm>
            <a:off x="5989320" y="5114882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API Readiness — structured JSON payload for ATS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DATA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Foundation: Kaggle JD Corpus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548640" y="155448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Sourced 17,880 real-world job postings from Kaggle.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Highly unstructured text — long paragraphs, bullet points, mixed jargon.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Key fields used: job description text, job title, and required skills.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806440" y="2459245"/>
            <a:ext cx="5943600" cy="2945350"/>
          </a:xfrm>
          <a:prstGeom prst="roundRect">
            <a:avLst>
              <a:gd fmla="val 2484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3.png" id="78" name="Google Shape;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596405"/>
            <a:ext cx="5669280" cy="267103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/>
        </p:nvSpPr>
        <p:spPr>
          <a:xfrm>
            <a:off x="5806440" y="5249147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Raw unstructured job description dataset ingestion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DATA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NLP Preprocessing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 txBox="1"/>
          <p:nvPr/>
        </p:nvSpPr>
        <p:spPr>
          <a:xfrm>
            <a:off x="548640" y="155448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Strict lowercasing to standardize vocabulary ("SQL" = "sql").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Aggressive alphanumeric noise removal (commas, symbols, bullets).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Stopword elimination to isolate core technical terms.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5897880" y="2810338"/>
            <a:ext cx="5852160" cy="2334603"/>
          </a:xfrm>
          <a:prstGeom prst="roundRect">
            <a:avLst>
              <a:gd fmla="val 3133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11.png" id="91" name="Google Shape;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0" y="2947498"/>
            <a:ext cx="5577840" cy="206028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 txBox="1"/>
          <p:nvPr/>
        </p:nvSpPr>
        <p:spPr>
          <a:xfrm>
            <a:off x="5897880" y="4989494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Before-and-after Regex text normalization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DATA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Integrity &amp; Understanding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548640" y="155448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Checked for null values and duplicate records to prevent model skewing.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Analyzed JD length variance to ensure the model handles long documents.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Visualized top skills, categories, and job-role demand across the dataset.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5806440" y="2083275"/>
            <a:ext cx="5943600" cy="3422971"/>
          </a:xfrm>
          <a:prstGeom prst="roundRect">
            <a:avLst>
              <a:gd fmla="val 2137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20.png" id="104" name="Google Shape;1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220435"/>
            <a:ext cx="5669280" cy="3148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9"/>
          <p:cNvSpPr txBox="1"/>
          <p:nvPr/>
        </p:nvSpPr>
        <p:spPr>
          <a:xfrm>
            <a:off x="5806440" y="5350797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Power BI dashboard — dataset insights and top tech skills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Bridging Text and Mathematics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 txBox="1"/>
          <p:nvPr/>
        </p:nvSpPr>
        <p:spPr>
          <a:xfrm>
            <a:off x="548640" y="155448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Custom Skill Taxonomy: grouping tools into domains (e.g., Python ➔ PROGRAMMING).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TF-IDF Vectorization: penalizes ubiquitous words (like "team") and boosts rare, important terms.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Converts raw vocabulary into numerical matrices the model can learn from.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6552679" y="1417320"/>
            <a:ext cx="4725441" cy="4754880"/>
          </a:xfrm>
          <a:prstGeom prst="roundRect">
            <a:avLst>
              <a:gd fmla="val 1548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2.png"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839" y="1554480"/>
            <a:ext cx="4451121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0"/>
          <p:cNvSpPr txBox="1"/>
          <p:nvPr/>
        </p:nvSpPr>
        <p:spPr>
          <a:xfrm>
            <a:off x="6552679" y="6016752"/>
            <a:ext cx="472544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Statistical vectorization — TF-IDF term scores and rankings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Precision Extraction via Regex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548640" y="155448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Implemented strict word-boundary matching (\bword\b).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Solved the "partial match" vulnerability (e.g., "Java" inside "JavaScript").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Guarantees high precision before ML classification takes over.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6586922" y="1325880"/>
            <a:ext cx="4656956" cy="4892040"/>
          </a:xfrm>
          <a:prstGeom prst="roundRect">
            <a:avLst>
              <a:gd fmla="val 1571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18.png" id="130" name="Google Shape;1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4082" y="1463040"/>
            <a:ext cx="4382636" cy="461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 txBox="1"/>
          <p:nvPr/>
        </p:nvSpPr>
        <p:spPr>
          <a:xfrm>
            <a:off x="6586922" y="6062472"/>
            <a:ext cx="46569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Rule-based extraction — word-boundary logic in 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Intelligence: Logistic Regression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548640" y="155448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Multiclass Logistic Regression pipeline for skill-category classification.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Trained on labeled technical terms mapped to their respective domains.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Serialized as skill_classifier.pkl for zero-latency inference.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6426059" y="1463040"/>
            <a:ext cx="4887243" cy="4709160"/>
          </a:xfrm>
          <a:prstGeom prst="roundRect">
            <a:avLst>
              <a:gd fmla="val 1553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6.png" id="143" name="Google Shape;1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3219" y="1600200"/>
            <a:ext cx="4612923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2"/>
          <p:cNvSpPr txBox="1"/>
          <p:nvPr/>
        </p:nvSpPr>
        <p:spPr>
          <a:xfrm>
            <a:off x="6426059" y="6016752"/>
            <a:ext cx="488724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Training and serializing the Logistic Regression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Architectural Research: BERT vs. Logistic Regression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548640" y="1554480"/>
            <a:ext cx="53949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Char char="▪"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Analyzed pre-trained Transformers (BERT/DistilBERT) for deep contextual understanding.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Char char="▪"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Transformers lacked domain fine-tuning — mislabeled Python/SQL/AWS as generic MISC entities.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Char char="▪"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Decision: chose TF-IDF + Logistic Regression to prioritize low latency and low compute cost while keeping high accuracy.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6275208" y="2240280"/>
            <a:ext cx="5463265" cy="3474720"/>
          </a:xfrm>
          <a:prstGeom prst="roundRect">
            <a:avLst>
              <a:gd fmla="val 2105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5.png" id="156" name="Google Shape;1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2368" y="2377440"/>
            <a:ext cx="5188945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3"/>
          <p:cNvSpPr txBox="1"/>
          <p:nvPr/>
        </p:nvSpPr>
        <p:spPr>
          <a:xfrm>
            <a:off x="6275208" y="5559552"/>
            <a:ext cx="546326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BERT vs. custom pipeline — entity label comparison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Performance Metrics Across All Methods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548640" y="155448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Evaluated every extraction method via Precision, Recall, and F1-Score.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Custom spaCy NER and the ML pipeline led the field in accuracy.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Achieved an operational live-app accuracy of 94.2%.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6478770" y="1691640"/>
            <a:ext cx="5239021" cy="4297680"/>
          </a:xfrm>
          <a:prstGeom prst="roundRect">
            <a:avLst>
              <a:gd fmla="val 1702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12.png" id="169" name="Google Shape;1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5930" y="1828800"/>
            <a:ext cx="4964701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 txBox="1"/>
          <p:nvPr/>
        </p:nvSpPr>
        <p:spPr>
          <a:xfrm>
            <a:off x="6478770" y="5833872"/>
            <a:ext cx="523902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Clean comparison table — accuracy across all algorithms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Debugging the PDF Spacing Bug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548640" y="1554480"/>
            <a:ext cx="52120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Char char="▪"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The Bug: PyPDF2 occasionally compressed text (e.g., "Power BI" became "PowerBI").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Char char="▪"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The Impact: false negatives generated in the matching engine.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Char char="▪"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The Fix: a secondary alphanumeric normalization pipeline strips spaces from both JD skills and resume text before comparing.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5897880" y="2088904"/>
            <a:ext cx="5852160" cy="3228832"/>
          </a:xfrm>
          <a:prstGeom prst="roundRect">
            <a:avLst>
              <a:gd fmla="val 2266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8.png" id="182" name="Google Shape;1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0" y="2226064"/>
            <a:ext cx="5577840" cy="295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5897880" y="516228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limitation: a 66% score caused by a missed "Power BI" match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APPLICATION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Recruiter Workspace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548640" y="155448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Built with Streamlit (app.py) as a real-time web application.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Session-state management prevents data loss on page reruns.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Char char="▪"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Interactive KPI metrics on a modern, dark-themed UI.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5806440" y="1971675"/>
            <a:ext cx="5943600" cy="3463290"/>
          </a:xfrm>
          <a:prstGeom prst="roundRect">
            <a:avLst>
              <a:gd fmla="val 2112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23.png" id="195" name="Google Shape;1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108835"/>
            <a:ext cx="5669280" cy="318897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 txBox="1"/>
          <p:nvPr/>
        </p:nvSpPr>
        <p:spPr>
          <a:xfrm>
            <a:off x="5806440" y="5279517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Primary web interface — dark-themed AI Talent Intelligence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APPLICATION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End-to-End Match Scoring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548640" y="146304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Char char="▪"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Recruiter pastes a JD and instantly gets extracted, categorized skills.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Char char="▪"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Candidate uploads a PDF resume for automatic parsing and normalization.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Char char="▪"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Green "Matched" and yellow "Missing" skills give an instant hiring signal.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411480" y="3001395"/>
            <a:ext cx="5760720" cy="2684009"/>
          </a:xfrm>
          <a:prstGeom prst="roundRect">
            <a:avLst>
              <a:gd fmla="val 2725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24.png"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138555"/>
            <a:ext cx="5486400" cy="240968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411480" y="5529957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Step 1 — custom job description entered by the recruiter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6172200" y="2714625"/>
            <a:ext cx="5577840" cy="3257550"/>
          </a:xfrm>
          <a:prstGeom prst="roundRect">
            <a:avLst>
              <a:gd fmla="val 2246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report_media/word/media/image21.png" id="211" name="Google Shape;21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2851785"/>
            <a:ext cx="5303520" cy="298323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6172200" y="5816727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Step 2 — resume uploaded, 100% match score calculated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WRAP-UP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Outcomes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548640" y="1737360"/>
            <a:ext cx="54864" cy="1737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868680" y="1737360"/>
            <a:ext cx="10058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Successfully automated technical talent extraction and scoring — bridging the gap between complex NLP algorithms and practical recruitment UX.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548640" y="3749040"/>
            <a:ext cx="10881360" cy="1965960"/>
          </a:xfrm>
          <a:prstGeom prst="roundRect">
            <a:avLst>
              <a:gd fmla="val 4651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KEY LEARNING OUTCOME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914400" y="4343400"/>
            <a:ext cx="10149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Cross-Domain AI Architecture: contrasting the unstructured text-processing challenges of this NLP project with prior computer vision work (YOLOv8 optimization and Grad-CAM heatmaps on the FreshScan project) built a holistic understanding of how different AI models handle diverse data types — text vectors vs. image pixels.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Job Skill Extractor &amp; AI Talent Intelligence</a:t>
            </a:r>
            <a:endParaRPr sz="900">
              <a:solidFill>
                <a:srgbClr val="94A3B8"/>
              </a:solidFill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WHAT'S NEXT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 Roadmap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548640" y="2194560"/>
            <a:ext cx="3383280" cy="3566160"/>
          </a:xfrm>
          <a:prstGeom prst="roundRect">
            <a:avLst>
              <a:gd fmla="val 2703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822960" y="315468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MERN Stack Migration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822960" y="3703320"/>
            <a:ext cx="2834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Upgrading the frontend to React.js with a Node.js/Express backend for enterprise-grade scaling and user authentication.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251960" y="2194560"/>
            <a:ext cx="3383280" cy="3566160"/>
          </a:xfrm>
          <a:prstGeom prst="roundRect">
            <a:avLst>
              <a:gd fmla="val 2703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4526280" y="246888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4526280" y="2468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4526280" y="315468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RAG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4526280" y="3703320"/>
            <a:ext cx="2834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Integrating a Vector Database (FAISS) for deep semantic understanding of resumes beyond keyword overlap.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7955280" y="2194560"/>
            <a:ext cx="3383280" cy="3566160"/>
          </a:xfrm>
          <a:prstGeom prst="roundRect">
            <a:avLst>
              <a:gd fmla="val 2703" name="adj"/>
            </a:avLst>
          </a:prstGeom>
          <a:solidFill>
            <a:srgbClr val="16223B"/>
          </a:solidFill>
          <a:ln cap="flat" cmpd="sng" w="12700">
            <a:solidFill>
              <a:srgbClr val="27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8229600" y="246888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8229600" y="2468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8229600" y="315468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 NER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8229600" y="3703320"/>
            <a:ext cx="2834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Training a custom spaCy NER pipeline to dynamically learn emerging tools outside the static dictionar</a:t>
            </a:r>
            <a:r>
              <a:rPr lang="en-US" sz="1250">
                <a:solidFill>
                  <a:srgbClr val="94A3B8"/>
                </a:solidFill>
              </a:rPr>
              <a:t>y and help the system understand more terminologies including both tech and non-tech domains completely.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</a:rPr>
              <a:t>Automatic </a:t>
            </a: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Job Skill Extractor &amp; </a:t>
            </a:r>
            <a:r>
              <a:rPr lang="en-US" sz="900">
                <a:solidFill>
                  <a:srgbClr val="94A3B8"/>
                </a:solidFill>
              </a:rPr>
              <a:t>AI Talent Intelligence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